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60" r:id="rId7"/>
    <p:sldId id="258" r:id="rId8"/>
    <p:sldId id="286" r:id="rId9"/>
    <p:sldId id="287" r:id="rId10"/>
    <p:sldId id="288" r:id="rId11"/>
    <p:sldId id="289" r:id="rId12"/>
    <p:sldId id="290" r:id="rId13"/>
    <p:sldId id="268" r:id="rId14"/>
    <p:sldId id="29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3" autoAdjust="0"/>
    <p:restoredTop sz="94660"/>
  </p:normalViewPr>
  <p:slideViewPr>
    <p:cSldViewPr snapToGrid="0">
      <p:cViewPr varScale="1">
        <p:scale>
          <a:sx n="92" d="100"/>
          <a:sy n="92" d="100"/>
        </p:scale>
        <p:origin x="84" y="5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5/16/2021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5/16/2021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terms.com/definition/network" TargetMode="External"/><Relationship Id="rId2" Type="http://schemas.openxmlformats.org/officeDocument/2006/relationships/hyperlink" Target="https://techterms.com/definition/compute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echterms.com/definition/server" TargetMode="External"/><Relationship Id="rId4" Type="http://schemas.openxmlformats.org/officeDocument/2006/relationships/hyperlink" Target="https://techterms.com/definition/operating_syste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ropnop/kerbrute" TargetMode="Externa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GhostPack/Rubeus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 based attacks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422" y="779318"/>
            <a:ext cx="7781544" cy="859055"/>
          </a:xfrm>
        </p:spPr>
        <p:txBody>
          <a:bodyPr/>
          <a:lstStyle/>
          <a:p>
            <a:r>
              <a:rPr lang="en-US" dirty="0"/>
              <a:t>What  is AD?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204" y="1803861"/>
            <a:ext cx="6803136" cy="1864129"/>
          </a:xfrm>
        </p:spPr>
        <p:txBody>
          <a:bodyPr>
            <a:noAutofit/>
          </a:bodyPr>
          <a:lstStyle/>
          <a:p>
            <a:r>
              <a:rPr lang="en-US" sz="1800" b="0" i="0" dirty="0">
                <a:solidFill>
                  <a:schemeClr val="bg1"/>
                </a:solidFill>
                <a:effectLst/>
                <a:latin typeface="Open Sans" panose="020B0604020202020204" pitchFamily="34" charset="0"/>
              </a:rPr>
              <a:t>Active Directory (AD) is a Microsoft technology used to manage 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Open Sans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computers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Open Sans" panose="020B0604020202020204" pitchFamily="34" charset="0"/>
              </a:rPr>
              <a:t> and other devices on a 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Open Sans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network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Open Sans" panose="020B0604020202020204" pitchFamily="34" charset="0"/>
              </a:rPr>
              <a:t>. It is a primary feature of Windows Server, an 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Open Sans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operating system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Open Sans" panose="020B0604020202020204" pitchFamily="34" charset="0"/>
              </a:rPr>
              <a:t> that runs both local and Internet-based 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Open Sans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servers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Open Sans" panose="020B0604020202020204" pitchFamily="34" charset="0"/>
              </a:rPr>
              <a:t>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3409C1-B83D-4634-AAC2-9835DEF16E4D}"/>
              </a:ext>
            </a:extLst>
          </p:cNvPr>
          <p:cNvSpPr txBox="1"/>
          <p:nvPr/>
        </p:nvSpPr>
        <p:spPr>
          <a:xfrm>
            <a:off x="655205" y="4208318"/>
            <a:ext cx="481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AD uses both NTLM and </a:t>
            </a:r>
            <a:r>
              <a:rPr lang="en-US" dirty="0" err="1">
                <a:solidFill>
                  <a:schemeClr val="bg1"/>
                </a:solidFill>
              </a:rPr>
              <a:t>kerberos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622" y="238991"/>
            <a:ext cx="7781544" cy="859055"/>
          </a:xfrm>
        </p:spPr>
        <p:txBody>
          <a:bodyPr/>
          <a:lstStyle/>
          <a:p>
            <a:r>
              <a:rPr lang="en-US" dirty="0"/>
              <a:t>Lets talk </a:t>
            </a:r>
            <a:r>
              <a:rPr lang="en-US" dirty="0" err="1"/>
              <a:t>kerberos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A14163-471D-4527-878B-CA2F3E0A6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214" y="1098046"/>
            <a:ext cx="7452360" cy="459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Attacks using </a:t>
            </a:r>
            <a:r>
              <a:rPr lang="en-US" dirty="0" err="1"/>
              <a:t>kerberos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74936-003C-4434-9DCA-FCA4EBA2C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Brute forcing</a:t>
            </a:r>
          </a:p>
          <a:p>
            <a:r>
              <a:rPr lang="en-US" dirty="0"/>
              <a:t>Pass the ticket</a:t>
            </a:r>
          </a:p>
          <a:p>
            <a:r>
              <a:rPr lang="en-US" dirty="0" err="1"/>
              <a:t>Kerberoasting</a:t>
            </a:r>
            <a:endParaRPr lang="en-US" dirty="0"/>
          </a:p>
          <a:p>
            <a:r>
              <a:rPr lang="en-US" dirty="0"/>
              <a:t>AS-REP Roasting</a:t>
            </a:r>
          </a:p>
          <a:p>
            <a:r>
              <a:rPr lang="en-US" dirty="0"/>
              <a:t>Silver ticket</a:t>
            </a:r>
          </a:p>
          <a:p>
            <a:r>
              <a:rPr lang="en-US" dirty="0"/>
              <a:t>Golden ticket</a:t>
            </a:r>
          </a:p>
          <a:p>
            <a:r>
              <a:rPr lang="en-US" dirty="0"/>
              <a:t>Skeleton Key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Kerbrute</a:t>
            </a:r>
            <a:r>
              <a:rPr lang="en-US" dirty="0"/>
              <a:t> ( No Domain access 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74936-003C-4434-9DCA-FCA4EBA2C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dirty="0" err="1"/>
              <a:t>Kerbrute</a:t>
            </a:r>
            <a:r>
              <a:rPr lang="en-US" sz="2400" dirty="0"/>
              <a:t> tool</a:t>
            </a:r>
          </a:p>
          <a:p>
            <a:pPr marL="457200" lvl="1" indent="0">
              <a:buNone/>
            </a:pPr>
            <a:r>
              <a:rPr lang="en-IN" sz="2000" dirty="0">
                <a:hlinkClick r:id="rId2"/>
              </a:rPr>
              <a:t>https://github.com/ropnop/kerbrute</a:t>
            </a:r>
            <a:endParaRPr lang="en-IN" sz="2000" dirty="0"/>
          </a:p>
          <a:p>
            <a:pPr marL="457200" lvl="1" indent="0">
              <a:buNone/>
            </a:pPr>
            <a:endParaRPr lang="en-IN" sz="2000" dirty="0"/>
          </a:p>
          <a:p>
            <a:pPr marL="457200" lvl="1" indent="0">
              <a:buNone/>
            </a:pPr>
            <a:endParaRPr lang="en-IN" sz="2000" dirty="0"/>
          </a:p>
          <a:p>
            <a:pPr marL="457200" lvl="1" indent="0">
              <a:buNone/>
            </a:pPr>
            <a:endParaRPr lang="en-IN" sz="2000" dirty="0"/>
          </a:p>
          <a:p>
            <a:pPr marL="457200" lvl="1" indent="0">
              <a:buNone/>
            </a:pPr>
            <a:r>
              <a:rPr lang="en-IN" sz="2000" dirty="0"/>
              <a:t>It gives us valid usernames with wordlist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7CC0DA-C799-475B-9146-6F94B56CE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2893469"/>
            <a:ext cx="9151285" cy="53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949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Rubeus ( user in a domain )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74936-003C-4434-9DCA-FCA4EBA2C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078456"/>
            <a:ext cx="9946409" cy="5054815"/>
          </a:xfrm>
        </p:spPr>
        <p:txBody>
          <a:bodyPr/>
          <a:lstStyle/>
          <a:p>
            <a:r>
              <a:rPr lang="en-US" sz="2400" dirty="0"/>
              <a:t>Rubeus tool</a:t>
            </a:r>
          </a:p>
          <a:p>
            <a:pPr marL="0" indent="0">
              <a:buNone/>
            </a:pPr>
            <a:r>
              <a:rPr lang="en-US" sz="2400" dirty="0">
                <a:hlinkClick r:id="rId2"/>
              </a:rPr>
              <a:t>https://github.com/GhostPack/Rubeus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Harvesting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Password spraying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1400" dirty="0"/>
              <a:t>Run a password spraying for all the users found having a .</a:t>
            </a:r>
            <a:r>
              <a:rPr lang="en-US" sz="1400" dirty="0" err="1"/>
              <a:t>kirbi</a:t>
            </a:r>
            <a:r>
              <a:rPr lang="en-US" sz="1400" dirty="0"/>
              <a:t> ticket</a:t>
            </a:r>
          </a:p>
          <a:p>
            <a:pPr marL="0" indent="0">
              <a:buNone/>
            </a:pPr>
            <a:r>
              <a:rPr lang="en-US" sz="2400" dirty="0" err="1"/>
              <a:t>Kerberoasting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1400" dirty="0"/>
              <a:t>Gets the hash of the user requesting SPN service to be later brute forced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AS-REP roasting</a:t>
            </a:r>
          </a:p>
          <a:p>
            <a:pPr marL="0" indent="0">
              <a:buNone/>
            </a:pPr>
            <a:r>
              <a:rPr lang="en-US" sz="1400" dirty="0"/>
              <a:t>			       </a:t>
            </a:r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US" sz="1400" dirty="0"/>
              <a:t>It fetches the hashes of the user account that have pre-auth disabled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9CB7B0-ECC0-476F-BB4D-D8A746D26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2511202"/>
            <a:ext cx="3707094" cy="4550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B6B5B1-FDF3-475B-AD8A-070CB7427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" y="3501796"/>
            <a:ext cx="5484338" cy="5262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914045-6701-4BE5-A787-C594DD913E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909616"/>
            <a:ext cx="5854325" cy="3420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60173E-97E8-49B1-9638-F6A632F762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00" y="6153296"/>
            <a:ext cx="3142677" cy="36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46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Mimikatz</a:t>
            </a:r>
            <a:r>
              <a:rPr lang="en-US" dirty="0"/>
              <a:t> ( user in a domain/domain controller)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74936-003C-4434-9DCA-FCA4EBA2C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/>
              <a:t>https://github.com/gentilkiwi/mimikatz</a:t>
            </a:r>
          </a:p>
          <a:p>
            <a:r>
              <a:rPr lang="en-US" sz="2000" dirty="0"/>
              <a:t>Passing the ticket	</a:t>
            </a:r>
            <a:endParaRPr lang="en-US" sz="2200" dirty="0"/>
          </a:p>
          <a:p>
            <a:pPr lvl="6"/>
            <a:r>
              <a:rPr lang="en-IN" sz="14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IN" sz="1400" dirty="0">
                <a:solidFill>
                  <a:schemeClr val="bg1"/>
                </a:solidFill>
              </a:rPr>
              <a:t>Dumps the tickets in the machine as .</a:t>
            </a:r>
            <a:r>
              <a:rPr lang="en-IN" sz="1400" dirty="0" err="1">
                <a:solidFill>
                  <a:schemeClr val="bg1"/>
                </a:solidFill>
              </a:rPr>
              <a:t>kirbi</a:t>
            </a:r>
            <a:endParaRPr lang="en-IN" sz="1400" dirty="0">
              <a:solidFill>
                <a:schemeClr val="bg1"/>
              </a:solidFill>
            </a:endParaRPr>
          </a:p>
          <a:p>
            <a:pPr lvl="6"/>
            <a:endParaRPr lang="en-IN" sz="1400" dirty="0">
              <a:solidFill>
                <a:schemeClr val="bg1"/>
              </a:solidFill>
            </a:endParaRPr>
          </a:p>
          <a:p>
            <a:pPr lvl="8"/>
            <a:r>
              <a:rPr lang="en-IN" sz="14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IN" sz="1400" dirty="0">
                <a:solidFill>
                  <a:schemeClr val="bg1"/>
                </a:solidFill>
              </a:rPr>
              <a:t>Impersonate the ticket</a:t>
            </a:r>
          </a:p>
          <a:p>
            <a:pPr lvl="8"/>
            <a:endParaRPr lang="en-IN" sz="1400" dirty="0">
              <a:solidFill>
                <a:schemeClr val="bg1"/>
              </a:solidFill>
            </a:endParaRPr>
          </a:p>
          <a:p>
            <a:pPr lvl="8"/>
            <a:endParaRPr lang="en-IN" sz="1400" dirty="0">
              <a:solidFill>
                <a:schemeClr val="bg1"/>
              </a:solidFill>
            </a:endParaRPr>
          </a:p>
          <a:p>
            <a:r>
              <a:rPr lang="en-IN" sz="2400" dirty="0"/>
              <a:t>Golden/silver ticket</a:t>
            </a:r>
          </a:p>
          <a:p>
            <a:pPr marL="0" indent="0">
              <a:buNone/>
            </a:pPr>
            <a:r>
              <a:rPr lang="en-IN" sz="2400" dirty="0"/>
              <a:t>				</a:t>
            </a:r>
            <a:r>
              <a:rPr lang="en-IN" sz="1400" dirty="0">
                <a:sym typeface="Wingdings" panose="05000000000000000000" pitchFamily="2" charset="2"/>
              </a:rPr>
              <a:t></a:t>
            </a:r>
            <a:r>
              <a:rPr lang="en-IN" sz="1400" dirty="0"/>
              <a:t>To dump the tickets for golden </a:t>
            </a:r>
            <a:r>
              <a:rPr lang="en-IN" sz="1400" dirty="0" err="1"/>
              <a:t>tckt</a:t>
            </a:r>
            <a:endParaRPr lang="en-IN" sz="1400" dirty="0"/>
          </a:p>
          <a:p>
            <a:pPr marL="0" indent="0">
              <a:buNone/>
            </a:pPr>
            <a:r>
              <a:rPr lang="en-IN" sz="1400" dirty="0"/>
              <a:t>Instead of </a:t>
            </a:r>
            <a:r>
              <a:rPr lang="en-IN" sz="1400" dirty="0" err="1"/>
              <a:t>krbtgt</a:t>
            </a:r>
            <a:r>
              <a:rPr lang="en-IN" sz="1400" dirty="0"/>
              <a:t>, if we give user account we can gain silver ticket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To impersonate the ticket</a:t>
            </a:r>
          </a:p>
          <a:p>
            <a:pPr marL="0" indent="0">
              <a:buNone/>
            </a:pPr>
            <a:r>
              <a:rPr lang="en-IN" sz="1400" dirty="0"/>
              <a:t>	   </a:t>
            </a:r>
            <a:r>
              <a:rPr lang="en-IN" sz="1400" dirty="0">
                <a:sym typeface="Wingdings" panose="05000000000000000000" pitchFamily="2" charset="2"/>
              </a:rPr>
              <a:t> to gain the elevated access</a:t>
            </a:r>
            <a:endParaRPr lang="en-IN" sz="1400" dirty="0"/>
          </a:p>
          <a:p>
            <a:endParaRPr lang="en-IN" sz="12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459CE8-3001-4660-B8FD-69A42EC71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37" y="2452255"/>
            <a:ext cx="2973942" cy="4290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D2A504-AC52-434D-AAEE-DFEC42100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37" y="2968013"/>
            <a:ext cx="3781227" cy="4290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471B3E-45CA-4664-8606-B2BCAA038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27" y="4415822"/>
            <a:ext cx="3381847" cy="3238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67F5A1-2A15-4F64-989E-D569A468EB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5930" y="1037449"/>
            <a:ext cx="5076070" cy="39521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C5B9CB-8D03-4A86-94B9-CCBDA41914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999" y="5252242"/>
            <a:ext cx="8478433" cy="4001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DE936F6-B74E-4E3B-BDCE-F4BB5338D6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427" y="6154321"/>
            <a:ext cx="971686" cy="21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969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Mimikatz</a:t>
            </a:r>
            <a:r>
              <a:rPr lang="en-US" dirty="0"/>
              <a:t> ( user in a domain/domain controller) - </a:t>
            </a:r>
            <a:r>
              <a:rPr lang="en-US" dirty="0" err="1"/>
              <a:t>Contd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7D0918-24A5-4562-8A13-2CF5CDBF4E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dirty="0" err="1"/>
              <a:t>Persisitency</a:t>
            </a:r>
            <a:endParaRPr lang="en-US" sz="2400" dirty="0"/>
          </a:p>
          <a:p>
            <a:endParaRPr lang="en-IN" sz="2200" dirty="0"/>
          </a:p>
          <a:p>
            <a:pPr marL="0" indent="0">
              <a:buNone/>
            </a:pPr>
            <a:r>
              <a:rPr lang="en-IN" sz="2200" dirty="0"/>
              <a:t>Injects a skeleton with </a:t>
            </a:r>
            <a:r>
              <a:rPr lang="en-IN" sz="2200" dirty="0" err="1"/>
              <a:t>mimikatz</a:t>
            </a:r>
            <a:r>
              <a:rPr lang="en-IN" sz="2200" dirty="0"/>
              <a:t> as the password to gain the access to the domain</a:t>
            </a:r>
            <a:endParaRPr lang="en-IN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789FBA-446F-4281-8064-054528085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33" y="2072522"/>
            <a:ext cx="4696480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66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NTLM hashes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7D0918-24A5-4562-8A13-2CF5CDBF4E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dirty="0"/>
              <a:t>NTLM hashes are used when used to access shares or SMB using IP addresses</a:t>
            </a:r>
          </a:p>
          <a:p>
            <a:r>
              <a:rPr lang="en-US" sz="2400" dirty="0"/>
              <a:t>We can create a responder server to steal the NTLM hashes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88477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3306" y="207818"/>
            <a:ext cx="4945598" cy="1243584"/>
          </a:xfrm>
        </p:spPr>
        <p:txBody>
          <a:bodyPr/>
          <a:lstStyle/>
          <a:p>
            <a:r>
              <a:rPr lang="en-US" dirty="0"/>
              <a:t>Q &amp; A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C798AC-A097-4BB8-82B9-6D0534CB21D3}"/>
              </a:ext>
            </a:extLst>
          </p:cNvPr>
          <p:cNvSpPr txBox="1"/>
          <p:nvPr/>
        </p:nvSpPr>
        <p:spPr>
          <a:xfrm>
            <a:off x="7252855" y="1683327"/>
            <a:ext cx="44784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What protocol does AD use?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What services does KDC have?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Which company created Active directory? and Which OS first supported AD?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4214" y="2670464"/>
            <a:ext cx="4945598" cy="1243584"/>
          </a:xfrm>
        </p:spPr>
        <p:txBody>
          <a:bodyPr/>
          <a:lstStyle/>
          <a:p>
            <a:r>
              <a:rPr lang="en-GB" dirty="0"/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C798AC-A097-4BB8-82B9-6D0534CB21D3}"/>
              </a:ext>
            </a:extLst>
          </p:cNvPr>
          <p:cNvSpPr txBox="1"/>
          <p:nvPr/>
        </p:nvSpPr>
        <p:spPr>
          <a:xfrm>
            <a:off x="7252855" y="1683327"/>
            <a:ext cx="4478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2795790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122</TotalTime>
  <Words>336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Open Sans</vt:lpstr>
      <vt:lpstr>Trade Gothic LT Pro</vt:lpstr>
      <vt:lpstr>Trebuchet MS</vt:lpstr>
      <vt:lpstr>Office Theme</vt:lpstr>
      <vt:lpstr>AD based attacks</vt:lpstr>
      <vt:lpstr>What  is AD?</vt:lpstr>
      <vt:lpstr>Lets talk kerberos</vt:lpstr>
      <vt:lpstr>Attacks using kerberos</vt:lpstr>
      <vt:lpstr>Kerbrute ( No Domain access )</vt:lpstr>
      <vt:lpstr>Rubeus ( user in a domain ) </vt:lpstr>
      <vt:lpstr>Mimikatz ( user in a domain/domain controller)</vt:lpstr>
      <vt:lpstr>Mimikatz ( user in a domain/domain controller) - Contd</vt:lpstr>
      <vt:lpstr>NTLM hashes</vt:lpstr>
      <vt:lpstr>Q &amp; A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 based attacks</dc:title>
  <dc:creator>Deepak keshav dk</dc:creator>
  <cp:lastModifiedBy>Deepak keshav dk</cp:lastModifiedBy>
  <cp:revision>10</cp:revision>
  <dcterms:created xsi:type="dcterms:W3CDTF">2021-05-16T16:30:55Z</dcterms:created>
  <dcterms:modified xsi:type="dcterms:W3CDTF">2021-05-16T18:33:21Z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