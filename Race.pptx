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60" r:id="rId7"/>
    <p:sldId id="258" r:id="rId8"/>
    <p:sldId id="261" r:id="rId9"/>
    <p:sldId id="267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3" autoAdjust="0"/>
    <p:restoredTop sz="94660"/>
  </p:normalViewPr>
  <p:slideViewPr>
    <p:cSldViewPr snapToGrid="0">
      <p:cViewPr varScale="1">
        <p:scale>
          <a:sx n="92" d="100"/>
          <a:sy n="92" d="100"/>
        </p:scale>
        <p:origin x="84" y="5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3/2/2021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3/2/2021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eHackerDev/race-the-web" TargetMode="External"/><Relationship Id="rId2" Type="http://schemas.openxmlformats.org/officeDocument/2006/relationships/hyperlink" Target="https://portswigger.net/research/cracking-recaptcha-turbo-intruder-style" TargetMode="Externa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ab.wallarm.com/race-condition-in-web-applications/" TargetMode="External"/><Relationship Id="rId2" Type="http://schemas.openxmlformats.org/officeDocument/2006/relationships/hyperlink" Target="https://www.youtube.com/watch?v=5g137gsB9Wk" TargetMode="External"/><Relationship Id="rId1" Type="http://schemas.openxmlformats.org/officeDocument/2006/relationships/slideLayout" Target="../slideLayouts/slideLayout17.xml"/><Relationship Id="rId4" Type="http://schemas.openxmlformats.org/officeDocument/2006/relationships/hyperlink" Target="https://medium.com/@ciph3r7r0ll/race-condition-bug-in-web-app-a-use-case-21fd4df71f0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Race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Races in cyber security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7941" y="124691"/>
            <a:ext cx="7781544" cy="859055"/>
          </a:xfrm>
        </p:spPr>
        <p:txBody>
          <a:bodyPr/>
          <a:lstStyle/>
          <a:p>
            <a:r>
              <a:rPr lang="en-US" dirty="0"/>
              <a:t>What is deadlock?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34723" y="983746"/>
            <a:ext cx="6803136" cy="365760"/>
          </a:xfrm>
        </p:spPr>
        <p:txBody>
          <a:bodyPr/>
          <a:lstStyle/>
          <a:p>
            <a:r>
              <a:rPr lang="en-US" dirty="0"/>
              <a:t>A simple example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ACFE7C-A8CB-490A-B070-00AB4102C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163" y="1514475"/>
            <a:ext cx="5162550" cy="19145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4413AF-125A-446E-B81F-0884ADC29284}"/>
              </a:ext>
            </a:extLst>
          </p:cNvPr>
          <p:cNvSpPr txBox="1"/>
          <p:nvPr/>
        </p:nvSpPr>
        <p:spPr>
          <a:xfrm>
            <a:off x="1576163" y="4145973"/>
            <a:ext cx="84607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Consider this example where Thread 1 and thread 2 is executed at a time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Simultaneously A will be locked by thread 1 and B will be locked by Thread 2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Now Thread 1 will wait till B is released and Thread 2 will wait till A is released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Hence both thread will wait indefinitely</a:t>
            </a:r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5228" y="675409"/>
            <a:ext cx="7781544" cy="859055"/>
          </a:xfrm>
        </p:spPr>
        <p:txBody>
          <a:bodyPr>
            <a:normAutofit fontScale="90000"/>
          </a:bodyPr>
          <a:lstStyle/>
          <a:p>
            <a:r>
              <a:rPr lang="en-US" dirty="0"/>
              <a:t>So now what is race condition?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00878" y="1534464"/>
            <a:ext cx="6803136" cy="365760"/>
          </a:xfrm>
        </p:spPr>
        <p:txBody>
          <a:bodyPr/>
          <a:lstStyle/>
          <a:p>
            <a:r>
              <a:rPr lang="en-US" dirty="0"/>
              <a:t>A short note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41228F-9E60-4E68-A053-9AFDFB2DBFF1}"/>
              </a:ext>
            </a:extLst>
          </p:cNvPr>
          <p:cNvSpPr txBox="1"/>
          <p:nvPr/>
        </p:nvSpPr>
        <p:spPr>
          <a:xfrm>
            <a:off x="342900" y="2393519"/>
            <a:ext cx="59747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Fira Sans"/>
              </a:rPr>
              <a:t>A race condition attack happens when a computing system that’s designed to handle tasks in a specific sequence is forced to perform two or more operations simultaneously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28E4CD-2D42-4AF8-86B4-A042DA88B177}"/>
              </a:ext>
            </a:extLst>
          </p:cNvPr>
          <p:cNvSpPr txBox="1"/>
          <p:nvPr/>
        </p:nvSpPr>
        <p:spPr>
          <a:xfrm>
            <a:off x="342900" y="3559786"/>
            <a:ext cx="5753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Fira Sans"/>
              </a:rPr>
              <a:t>Other names used to refer to this vulnerability include Time of Check/Time of Use or TOC/TOU attacks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5C7D2E-1F5E-4484-B241-31B10870F8DC}"/>
              </a:ext>
            </a:extLst>
          </p:cNvPr>
          <p:cNvSpPr txBox="1"/>
          <p:nvPr/>
        </p:nvSpPr>
        <p:spPr>
          <a:xfrm>
            <a:off x="477982" y="4582391"/>
            <a:ext cx="62137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Open Sans"/>
              </a:rPr>
              <a:t>As per the OWASP testing guide, </a:t>
            </a:r>
            <a:r>
              <a:rPr lang="en-US" b="0" i="1" dirty="0">
                <a:solidFill>
                  <a:schemeClr val="bg1"/>
                </a:solidFill>
                <a:effectLst/>
                <a:latin typeface="Open Sans"/>
              </a:rPr>
              <a:t>“A race condition is a flaw that produces an unexpected result when the timing of actions impact other actions. An example may be seen on a multithreaded application where actions are being performed on the same data. Race conditions, by their very nature, are difficult to test for.”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Race in file permissions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858542"/>
          </a:xfrm>
        </p:spPr>
        <p:txBody>
          <a:bodyPr/>
          <a:lstStyle/>
          <a:p>
            <a:r>
              <a:rPr lang="en-US" dirty="0"/>
              <a:t>Consider an example where I am a normal user and want to access a file secret.txt which can be only read by root</a:t>
            </a:r>
          </a:p>
          <a:p>
            <a:r>
              <a:rPr lang="en-US" dirty="0"/>
              <a:t>I create a script to open secret.txt and check the permission, we cannot read it</a:t>
            </a:r>
          </a:p>
          <a:p>
            <a:r>
              <a:rPr lang="en-US" dirty="0"/>
              <a:t>What happens is , the file is opened first and now the opened file is verifies if the permission is user level</a:t>
            </a:r>
          </a:p>
          <a:p>
            <a:r>
              <a:rPr lang="en-US" dirty="0"/>
              <a:t>Now we can use </a:t>
            </a:r>
            <a:r>
              <a:rPr lang="en-US" dirty="0" err="1"/>
              <a:t>syscall</a:t>
            </a:r>
            <a:endParaRPr lang="en-US" dirty="0"/>
          </a:p>
          <a:p>
            <a:r>
              <a:rPr lang="en-US" dirty="0"/>
              <a:t>For this we create a user created file name test.exe</a:t>
            </a:r>
          </a:p>
          <a:p>
            <a:pPr marL="457200" lvl="1" indent="0">
              <a:buNone/>
            </a:pPr>
            <a:r>
              <a:rPr lang="en-US" dirty="0"/>
              <a:t>While(1){</a:t>
            </a:r>
          </a:p>
          <a:p>
            <a:pPr marL="457200" lvl="1" indent="0">
              <a:buNone/>
            </a:pPr>
            <a:r>
              <a:rPr lang="en-US" dirty="0" err="1"/>
              <a:t>Syscall</a:t>
            </a:r>
            <a:r>
              <a:rPr lang="en-US" dirty="0"/>
              <a:t>(SYS_remaneat2, AT_FDCWD, secret.txt, AT_FDCWD, </a:t>
            </a:r>
            <a:r>
              <a:rPr lang="en-US" dirty="0" err="1"/>
              <a:t>test,txt</a:t>
            </a:r>
            <a:r>
              <a:rPr lang="en-US" dirty="0"/>
              <a:t>, RENAME_EXCHANGE)</a:t>
            </a:r>
          </a:p>
          <a:p>
            <a:pPr marL="457200" lvl="1" indent="0">
              <a:buNone/>
            </a:pPr>
            <a:r>
              <a:rPr lang="en-US" dirty="0"/>
              <a:t>}</a:t>
            </a:r>
          </a:p>
          <a:p>
            <a:pPr marL="457200" lvl="1" indent="0">
              <a:buNone/>
            </a:pPr>
            <a:r>
              <a:rPr lang="en-US" dirty="0"/>
              <a:t>This code will exchange the names infinite times</a:t>
            </a:r>
          </a:p>
          <a:p>
            <a:pPr marL="457200" lvl="1" indent="0">
              <a:buNone/>
            </a:pPr>
            <a:r>
              <a:rPr lang="en-US" dirty="0"/>
              <a:t>If we write a script to read the file now we will be able to read the file somehow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FFE981-3F40-4587-BEE9-6E35B5B6F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8326" y="1625385"/>
            <a:ext cx="4625229" cy="4305901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A0CB2FF-B876-4EA5-A3A5-A83AF8A519C4}"/>
              </a:ext>
            </a:extLst>
          </p:cNvPr>
          <p:cNvCxnSpPr/>
          <p:nvPr/>
        </p:nvCxnSpPr>
        <p:spPr>
          <a:xfrm>
            <a:off x="7678882" y="1870364"/>
            <a:ext cx="10702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5ADB458-2E1E-4A1A-866C-35DB1DF3722F}"/>
              </a:ext>
            </a:extLst>
          </p:cNvPr>
          <p:cNvCxnSpPr/>
          <p:nvPr/>
        </p:nvCxnSpPr>
        <p:spPr>
          <a:xfrm>
            <a:off x="7512627" y="4457700"/>
            <a:ext cx="21983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8797115-3765-4E1B-94FA-FB0AEADEB12F}"/>
              </a:ext>
            </a:extLst>
          </p:cNvPr>
          <p:cNvCxnSpPr/>
          <p:nvPr/>
        </p:nvCxnSpPr>
        <p:spPr>
          <a:xfrm>
            <a:off x="7398326" y="3044536"/>
            <a:ext cx="21301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Race in web application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4126B4-1E6C-4FFF-9282-40E18A85A07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0" y="1681163"/>
            <a:ext cx="5157787" cy="3472728"/>
          </a:xfrm>
        </p:spPr>
        <p:txBody>
          <a:bodyPr>
            <a:normAutofit/>
          </a:bodyPr>
          <a:lstStyle/>
          <a:p>
            <a:r>
              <a:rPr lang="en-US" dirty="0"/>
              <a:t>API level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Whenever there is creation, deletion and changes , We can test the race condition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For this we can use turbo intruder (burp suite extension) and </a:t>
            </a:r>
            <a:r>
              <a:rPr lang="en-US" dirty="0" err="1"/>
              <a:t>zgrab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 success of the race condition exploit depends on how fast and how many requests are being sent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C87788-476B-4620-8002-A5C1177AD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Web app client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0A9570-5EF6-4AFB-9FCA-7C8998E3FEB1}"/>
              </a:ext>
            </a:extLst>
          </p:cNvPr>
          <p:cNvSpPr>
            <a:spLocks noGrp="1"/>
          </p:cNvSpPr>
          <p:nvPr>
            <p:ph type="body" sz="quarter" idx="4"/>
          </p:nvPr>
        </p:nvSpPr>
        <p:spPr>
          <a:xfrm>
            <a:off x="6475412" y="2093119"/>
            <a:ext cx="5183188" cy="36845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can bypass the captcha using the race condition </a:t>
            </a:r>
          </a:p>
          <a:p>
            <a:r>
              <a:rPr lang="en-US" dirty="0"/>
              <a:t>POC for the captcha bypassing is below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hlinkClick r:id="rId2"/>
              </a:rPr>
              <a:t>https://portswigger.net/research/cracking-recaptcha-turbo-intruder-style</a:t>
            </a:r>
            <a:endParaRPr lang="en-US" dirty="0"/>
          </a:p>
          <a:p>
            <a:r>
              <a:rPr lang="en-US" dirty="0"/>
              <a:t>Bank transaction can be tested for race condition as they are very common due to the consistency and atomicity</a:t>
            </a:r>
          </a:p>
          <a:p>
            <a:r>
              <a:rPr lang="en-US" dirty="0"/>
              <a:t>Meltdown is famous attack due to race condition</a:t>
            </a:r>
          </a:p>
          <a:p>
            <a:r>
              <a:rPr lang="en-US" dirty="0">
                <a:hlinkClick r:id="rId3"/>
              </a:rPr>
              <a:t>https://github.com/TheHackerDev/race-the-web</a:t>
            </a:r>
            <a:r>
              <a:rPr lang="en-US" dirty="0"/>
              <a:t> - race the web can be used for testing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4CD37D6-FE32-48E3-A3AD-F07BE6A19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436" y="259773"/>
            <a:ext cx="7551057" cy="2859313"/>
          </a:xfrm>
        </p:spPr>
        <p:txBody>
          <a:bodyPr/>
          <a:lstStyle/>
          <a:p>
            <a:r>
              <a:rPr lang="en-US" dirty="0"/>
              <a:t>Remediations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DC7217-2779-44E0-9E6D-3B387951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E9BBFC-72AE-4044-9523-56FAA97C4642}"/>
              </a:ext>
            </a:extLst>
          </p:cNvPr>
          <p:cNvSpPr txBox="1"/>
          <p:nvPr/>
        </p:nvSpPr>
        <p:spPr>
          <a:xfrm>
            <a:off x="3054927" y="1724891"/>
            <a:ext cx="81972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Remove dependencies as much as possible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Use mutex(mutual exclusions)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Implement ATOM(atomicity, consistency, isolation , durability) in DBMS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Don’t create predictable file since the user may target the particular file, </a:t>
            </a:r>
            <a:r>
              <a:rPr lang="en-US" dirty="0" err="1">
                <a:solidFill>
                  <a:schemeClr val="bg1"/>
                </a:solidFill>
              </a:rPr>
              <a:t>eg.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Web.config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Sysnchrounous</a:t>
            </a:r>
            <a:r>
              <a:rPr lang="en-US" dirty="0">
                <a:solidFill>
                  <a:schemeClr val="bg1"/>
                </a:solidFill>
              </a:rPr>
              <a:t> process is recommended while using critical </a:t>
            </a:r>
            <a:r>
              <a:rPr lang="en-US" dirty="0" err="1">
                <a:solidFill>
                  <a:schemeClr val="bg1"/>
                </a:solidFill>
              </a:rPr>
              <a:t>resourse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134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14869" y="209481"/>
            <a:ext cx="4945598" cy="1243584"/>
          </a:xfrm>
        </p:spPr>
        <p:txBody>
          <a:bodyPr/>
          <a:lstStyle/>
          <a:p>
            <a:r>
              <a:rPr lang="en-US" dirty="0"/>
              <a:t>References: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3BFEB1-F58B-495B-9F14-7A444EFF2C27}"/>
              </a:ext>
            </a:extLst>
          </p:cNvPr>
          <p:cNvSpPr txBox="1"/>
          <p:nvPr/>
        </p:nvSpPr>
        <p:spPr>
          <a:xfrm>
            <a:off x="5403273" y="1548245"/>
            <a:ext cx="62137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hlinkClick r:id="rId2"/>
              </a:rPr>
              <a:t>https://www.youtube.com/watch?v=5g137gsB9Wk</a:t>
            </a: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hlinkClick r:id="rId3"/>
              </a:rPr>
              <a:t>https://lab.wallarm.com/race-condition-in-web-applications/</a:t>
            </a: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hlinkClick r:id="rId4"/>
              </a:rPr>
              <a:t>https://medium.com/@ciph3r7r0ll/race-condition-bug-in-web-app-a-use-case-21fd4df71f0e</a:t>
            </a: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https://www.mcafee.com/blogs/enterprise/testing-race-conditions-web-applications/</a:t>
            </a:r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103</TotalTime>
  <Words>562</Words>
  <Application>Microsoft Office PowerPoint</Application>
  <PresentationFormat>Widescreen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Fira Sans</vt:lpstr>
      <vt:lpstr>Open Sans</vt:lpstr>
      <vt:lpstr>Trade Gothic LT Pro</vt:lpstr>
      <vt:lpstr>Trebuchet MS</vt:lpstr>
      <vt:lpstr>Office Theme</vt:lpstr>
      <vt:lpstr>Race</vt:lpstr>
      <vt:lpstr>What is deadlock?</vt:lpstr>
      <vt:lpstr>So now what is race condition?</vt:lpstr>
      <vt:lpstr>Race in file permissions</vt:lpstr>
      <vt:lpstr>Race in web application</vt:lpstr>
      <vt:lpstr>Remediations</vt:lpstr>
      <vt:lpstr>References: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Race</dc:title>
  <dc:creator>Deepak keshav dk</dc:creator>
  <cp:lastModifiedBy>Deepak keshav dk</cp:lastModifiedBy>
  <cp:revision>9</cp:revision>
  <dcterms:created xsi:type="dcterms:W3CDTF">2021-03-02T17:49:23Z</dcterms:created>
  <dcterms:modified xsi:type="dcterms:W3CDTF">2021-03-02T19:32:38Z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